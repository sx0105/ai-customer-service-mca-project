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Self-service AI</c:v>
                  </c:pt>
                  <c:pt idx="1">
                    <c:v>Chatbot deflection</c:v>
                  </c:pt>
                  <c:pt idx="2">
                    <c:v>NLP email</c:v>
                  </c:pt>
                  <c:pt idx="3">
                    <c:v>AI-assisted agents</c:v>
                  </c:pt>
                  <c:pt idx="4">
                    <c:v>Auto routing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30</c:v>
                </c:pt>
                <c:pt idx="2">
                  <c:v>28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%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B3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Human Only</c:v>
                  </c:pt>
                  <c:pt idx="1">
                    <c:v>AI Only</c:v>
                  </c:pt>
                  <c:pt idx="2">
                    <c:v>AI+Agent</c:v>
                  </c:pt>
                  <c:pt idx="3">
                    <c:v>Hybrid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60</c:v>
                </c:pt>
                <c:pt idx="2">
                  <c:v>85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5468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560320" cy="2560320"/>
          </a:xfrm>
          <a:prstGeom prst="ellipse">
            <a:avLst/>
          </a:prstGeom>
          <a:solidFill>
            <a:srgbClr val="0D1B3E">
              <a:alpha val="70000"/>
            </a:srgb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1554480" cy="155448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28600" y="2926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PROJECT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40965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Lal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44256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O24MCA112136  |  Chandigarh University (CU Online)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0" y="82296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Impact of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1188720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5440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Customer Service for Tech Companies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74720" y="2423160"/>
            <a:ext cx="52578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57860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Vikas Kumar Atray   |   Academic Year: 2025–26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Research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companies face millions of customer queries monthly. AI technologies — chatbots, NLP, sentiment analysis — offer scalable, 24/7, cost-efficient solutions that human-only models cannot match.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3957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27249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6700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AI trends &amp; applications (2018–2024)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31729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118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benefits: cost, speed, satisfaction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62102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566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challenges &amp; risks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406908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40142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AI vs. traditional service KPIs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451713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4462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strategic recommendations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170432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170432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2435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09160" y="18288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cos. using AI in CS (2024)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170432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170432"/>
            <a:ext cx="1920240" cy="640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2435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12280" y="18288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growth 2018→2024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6517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65176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724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709160" y="3310128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reduction from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26517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2651760"/>
            <a:ext cx="192024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2724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812280" y="3310128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AI payback period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17904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17904"/>
            <a:ext cx="64008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636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2023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service orgs deploy AI. +30% productivity, −27% cost.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64008" cy="60350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5856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primary CS channel for 25% of orgs by 2027.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07792"/>
            <a:ext cx="64008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535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182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$400B–$660B annual AI CS value. Top 3 ROI function.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02736"/>
            <a:ext cx="64008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484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2023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87705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tech cos. use AI in CS vs 35% overall.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297680"/>
            <a:ext cx="64008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43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&amp; Rust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572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AI: +15–22% CSAT vs +3–7% generic.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156362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Research questions &amp; KPIs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30368" y="21671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Scholar, IEEE, Gartner, McKinsey, IBM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30368" y="27706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— 2018–2025 inclusion/exclusion criteria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30368" y="33741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— Source credibility rating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30368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— KPI data from 25+ studies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4581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30368" y="458114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 — 5-dimension impact framework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Design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15087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4114800" cy="438912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562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8562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185623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cloud AI, open-source NLP tools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9514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951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22951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(Large)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0" y="229514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 payback, 150–300% ROI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34056"/>
            <a:ext cx="4114800" cy="438912"/>
          </a:xfrm>
          <a:prstGeom prst="rect">
            <a:avLst/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340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27340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73405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key barrier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Service Architecture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6360" y="15819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1874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mobile, email, IVR, social media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411480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24505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743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intent classifier, dialogue manager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246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66360" y="33192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611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knowledge base, ticketing, APIs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114800"/>
            <a:ext cx="411480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66360" y="41879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4480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KPIs, sentiment trends, reporting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Industry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435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24%→68%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 tech 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to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70432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70432"/>
            <a:ext cx="1920240" cy="640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2435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AHT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agents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170432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70432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2435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0" y="18288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CSAT improvement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AI 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170432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170432"/>
            <a:ext cx="192024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2435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75120" y="1828800"/>
            <a:ext cx="1920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— Hybrid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72% human-only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by AI Application Category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301752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5778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by Service Model</a:t>
            </a:r>
            <a:endParaRPr lang="en-US" sz="11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5577840" y="3017520"/>
          <a:ext cx="32004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Impact Summary &amp; The Hybrid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 Impact Framework  (Score: 4.6/5.0)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(AHT)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5087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5087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−26% AHT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29768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1945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21945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 CSAT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8803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93008" y="2880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capacity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429768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(FCR)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35661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93008" y="35661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85–91% FCR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519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ROI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42519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93008" y="42519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150–300% / 14mo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Comparison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1508760"/>
            <a:ext cx="126187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50876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Only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9659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224028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20040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46320" y="3886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0" y="416052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9632" y="1508760"/>
            <a:ext cx="1261872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150876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99632" y="19659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99632" y="224028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99632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9632" y="320040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99632" y="3886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99632" y="416052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52944" y="1508760"/>
            <a:ext cx="1261872" cy="3401568"/>
          </a:xfrm>
          <a:prstGeom prst="rect">
            <a:avLst/>
          </a:prstGeom>
          <a:solidFill>
            <a:srgbClr val="0D1B3E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52944" y="150876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★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52944" y="19659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552944" y="224028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52944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552944" y="320040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52944" y="388620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552944" y="416052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Strategic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Barriers to AI Adoption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GDPR/CCPA/PDPB compliance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03704"/>
            <a:ext cx="4206240" cy="603504"/>
          </a:xfrm>
          <a:prstGeom prst="rect">
            <a:avLst/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03704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203704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203704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CRM/ERP connection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98648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98648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98648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898648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prefer humans for complex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93592"/>
            <a:ext cx="4206240" cy="603504"/>
          </a:xfrm>
          <a:prstGeom prst="rect">
            <a:avLst/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93592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593592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593592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 required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288536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88536"/>
            <a:ext cx="7498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288536"/>
            <a:ext cx="1280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4288536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displacement anxiety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170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508760"/>
            <a:ext cx="1920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508760"/>
            <a:ext cx="64008" cy="10424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64608" y="19385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Hybrid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21671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Tier 1 (60–70%), humans for complex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679192"/>
            <a:ext cx="1920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679192"/>
            <a:ext cx="64008" cy="104241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64608" y="31089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3337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training for &gt;90% accuracy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849624"/>
            <a:ext cx="1920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849624"/>
            <a:ext cx="64008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904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64608" y="427939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64608" y="4507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 pipeline with accuracy alerts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12280" y="1508760"/>
            <a:ext cx="1920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1508760"/>
            <a:ext cx="64008" cy="10424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2008" y="1563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22008" y="19385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22008" y="21671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GDPR/PDPB governance before deployment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12280" y="2679192"/>
            <a:ext cx="1920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12280" y="2679192"/>
            <a:ext cx="64008" cy="104241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22008" y="27340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22008" y="31089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22008" y="33375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AI as co-pilot; invest in agent upskilling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12280" y="3849624"/>
            <a:ext cx="1920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12280" y="3849624"/>
            <a:ext cx="64008" cy="10424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22008" y="39044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922008" y="427939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22008" y="4507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CSAT, FCR, AHT before &amp; after for ROI proof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2471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5544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the future of customer service — it is the present.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44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adoption: 24% → 68% in 6 years.  Cost reduction: −28.7% on average.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39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066544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satisfaction: +13% mean CSAT.  FCR: 88% with hybrid model.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76148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+ Human model outperforms all alternatives across every KPI.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29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456432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quality — not just technology — determines success.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224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151376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barriers: Data privacy (78%), Integration complexity (71%), Workforce anxiety (49%).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773168"/>
            <a:ext cx="83210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Satyam Lal  |  O24MCA112136  |  MCA  |  Chandigarh University  |  Mentor: Vikas Kumar Atray  |  2025–26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2026-05-19T17:10:38Z</dcterms:created>
  <dcterms:modified xsi:type="dcterms:W3CDTF">2026-05-19T17:10:38Z</dcterms:modified>
</cp:coreProperties>
</file>